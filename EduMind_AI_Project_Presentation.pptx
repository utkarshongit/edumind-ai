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2560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EduMind AI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Arial"/>
              </a:defRPr>
            </a:pPr>
            <a:r>
              <a:t>Next-Generation Intelligent E-Learning &amp; Course-Grounded RAG Platform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Multimodal Cloud Video Ingestion • Groq Whisper Speech-to-Text • NVIDIA Embeddings • LangGraph Agent Workflows • Grounded Google Gemini Assistant with Clickable Video Timestamp Seeking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PROJECT ARCHITECTURE &amp; ENGINEERING OVERVIEW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Tech Stack: React 18 (Vite + Tailwind) • Node.js / Express Gateway • Python FastAPI Microservice • MongoDB • Qdrant Vector DB • Cloudinary • Google Gemini 3.8 Flash • Groq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Problem in E-Learning vs. The EduMind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Bridging the gap between static lecture recordings and personalized, 100% course-grounded AI doubt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Current E-Learning Bottlenecks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Passive Video Consumption: </a:t>
            </a:r>
            <a:r>
              <a:rPr b="0" sz="1200">
                <a:solidFill>
                  <a:srgbClr val="CBD5E1"/>
                </a:solidFill>
                <a:latin typeface="Arial"/>
              </a:rPr>
              <a:t>Students spend hours watching recorded videos with high cognitive fatigue and zero interactive engagement.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 Instant Doubt Resolution: </a:t>
            </a:r>
            <a:r>
              <a:rPr b="0" sz="1200">
                <a:solidFill>
                  <a:srgbClr val="CBD5E1"/>
                </a:solidFill>
                <a:latin typeface="Arial"/>
              </a:rPr>
              <a:t>Professors receive hundreds of duplicate queries; students wait days for forum or email replies.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General LLM Hallucinations: </a:t>
            </a:r>
            <a:r>
              <a:rPr b="0" sz="1200">
                <a:solidFill>
                  <a:srgbClr val="CBD5E1"/>
                </a:solidFill>
                <a:latin typeface="Arial"/>
              </a:rPr>
              <a:t>ChatGPT &amp; standard LLMs answer outside the syllabus, teach conflicting notations, or make up facts.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Lost Time in Scouring Videos: </a:t>
            </a:r>
            <a:r>
              <a:rPr b="0" sz="1200">
                <a:solidFill>
                  <a:srgbClr val="CBD5E1"/>
                </a:solidFill>
                <a:latin typeface="Arial"/>
              </a:rPr>
              <a:t>Students re-watch entire 60-minute lectures just to find 2 minutes explaining a single equation or concept.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937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365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The EduMind AI Innovation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100% Course-Grounded AI ('Buddy'): </a:t>
            </a:r>
            <a:r>
              <a:rPr b="0" sz="1200">
                <a:solidFill>
                  <a:srgbClr val="CBD5E1"/>
                </a:solidFill>
                <a:latin typeface="Arial"/>
              </a:rPr>
              <a:t>Strictly restricted to what the professor actually taught in the uploaded lecture recordings.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Clickable Timestamp Citations: </a:t>
            </a:r>
            <a:r>
              <a:rPr b="0" sz="1200">
                <a:solidFill>
                  <a:srgbClr val="CBD5E1"/>
                </a:solidFill>
                <a:latin typeface="Arial"/>
              </a:rPr>
              <a:t>Every AI answer provides interactive video badges that seek the exact second of the lecture video on click.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Automated Ingestion Pipeline: </a:t>
            </a:r>
            <a:r>
              <a:rPr b="0" sz="1200">
                <a:solidFill>
                  <a:srgbClr val="CBD5E1"/>
                </a:solidFill>
                <a:latin typeface="Arial"/>
              </a:rPr>
              <a:t>Professors just drag-and-drop video; audio extraction, transcription, chunking, and vector indexing happen automatically.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Empathetic 'Office Hours' Tone: </a:t>
            </a:r>
            <a:r>
              <a:rPr b="0" sz="1200">
                <a:solidFill>
                  <a:srgbClr val="CBD5E1"/>
                </a:solidFill>
                <a:latin typeface="Arial"/>
              </a:rPr>
              <a:t>Answers phrased intuitively with plain-English mental models rather than intimidating raw mathematical symbols.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Decoupled 3-Tier Microservices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Scalable, resilient architecture separating client interaction, business governance, and intensive AI compute.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1: Frontend SPA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React 18 &amp; Vite: </a:t>
            </a:r>
            <a:r>
              <a:rPr b="0" sz="1200">
                <a:solidFill>
                  <a:srgbClr val="CBD5E1"/>
                </a:solidFill>
                <a:latin typeface="Arial"/>
              </a:rPr>
              <a:t>Lightning-fast client bundle with modular component architecture.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Tailwind CSS: </a:t>
            </a:r>
            <a:r>
              <a:rPr b="0" sz="1200">
                <a:solidFill>
                  <a:srgbClr val="CBD5E1"/>
                </a:solidFill>
                <a:latin typeface="Arial"/>
              </a:rPr>
              <a:t>High-contrast dark-mode theme inspired by Google Gemini.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Dual-Panel Chat UI: </a:t>
            </a:r>
            <a:r>
              <a:rPr b="0" sz="1200">
                <a:solidFill>
                  <a:srgbClr val="CBD5E1"/>
                </a:solidFill>
                <a:latin typeface="Arial"/>
              </a:rPr>
              <a:t>Multi-session history list sorted by last activity + real-time streaming view.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Video Player Sync: </a:t>
            </a:r>
            <a:r>
              <a:rPr b="0" sz="1200">
                <a:solidFill>
                  <a:srgbClr val="CBD5E1"/>
                </a:solidFill>
                <a:latin typeface="Arial"/>
              </a:rPr>
              <a:t>HTML5 player with programmatic seek controls hooked to AI citation clicks.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Role-Based Views: </a:t>
            </a:r>
            <a:r>
              <a:rPr b="0" sz="1200">
                <a:solidFill>
                  <a:srgbClr val="CBD5E1"/>
                </a:solidFill>
                <a:latin typeface="Arial"/>
              </a:rPr>
              <a:t>Dynamic views separating student catalog from professor lecture upload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375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880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Tier 2: Backend Gateway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Node.js &amp; Express: </a:t>
            </a:r>
            <a:r>
              <a:rPr b="0" sz="1200">
                <a:solidFill>
                  <a:srgbClr val="CBD5E1"/>
                </a:solidFill>
                <a:latin typeface="Arial"/>
              </a:rPr>
              <a:t>RESTful API orchestrator handling auth, routing, and access control.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JWT &amp; RBAC Guards: </a:t>
            </a:r>
            <a:r>
              <a:rPr b="0" sz="1200">
                <a:solidFill>
                  <a:srgbClr val="CBD5E1"/>
                </a:solidFill>
                <a:latin typeface="Arial"/>
              </a:rPr>
              <a:t>Role-based security ensuring students and professors only access permitted assets.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Cloudinary Signing: </a:t>
            </a:r>
            <a:r>
              <a:rPr b="0" sz="1200">
                <a:solidFill>
                  <a:srgbClr val="CBD5E1"/>
                </a:solidFill>
                <a:latin typeface="Arial"/>
              </a:rPr>
              <a:t>Generates cryptographic HMAC-SHA1 signatures for secure direct video uploads.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MongoDB &amp; Mongoose: </a:t>
            </a:r>
            <a:r>
              <a:rPr b="0" sz="1200">
                <a:solidFill>
                  <a:srgbClr val="CBD5E1"/>
                </a:solidFill>
                <a:latin typeface="Arial"/>
              </a:rPr>
              <a:t>Stores course schemas, lecture statuses, and multi-session chat message histories.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SSE Proxy: </a:t>
            </a:r>
            <a:r>
              <a:rPr b="0" sz="1200">
                <a:solidFill>
                  <a:srgbClr val="CBD5E1"/>
                </a:solidFill>
                <a:latin typeface="Arial"/>
              </a:rPr>
              <a:t>Pipelines streaming event tokens directly from FastAPI to the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41071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5351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Arial"/>
              </a:defRPr>
            </a:pPr>
            <a:r>
              <a:t>Tier 3: AI Microservice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Python FastAPI (Port 8000): </a:t>
            </a:r>
            <a:r>
              <a:rPr b="0" sz="1200">
                <a:solidFill>
                  <a:srgbClr val="CBD5E1"/>
                </a:solidFill>
                <a:latin typeface="Arial"/>
              </a:rPr>
              <a:t>High-performance asynchronous microservice running background workers.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Groq Whisper Large v3: </a:t>
            </a:r>
            <a:r>
              <a:rPr b="0" sz="1200">
                <a:solidFill>
                  <a:srgbClr val="CBD5E1"/>
                </a:solidFill>
                <a:latin typeface="Arial"/>
              </a:rPr>
              <a:t>Zero-GPU cloud speech-to-text generating timestamped transcript blocks.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NVIDIA Nemotron-3-Embed: </a:t>
            </a:r>
            <a:r>
              <a:rPr b="0" sz="1200">
                <a:solidFill>
                  <a:srgbClr val="CBD5E1"/>
                </a:solidFill>
                <a:latin typeface="Arial"/>
              </a:rPr>
              <a:t>2048-dim dense embedding model generating semantic vector representations.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Qdrant Vector DB: </a:t>
            </a:r>
            <a:r>
              <a:rPr b="0" sz="1200">
                <a:solidFill>
                  <a:srgbClr val="CBD5E1"/>
                </a:solidFill>
                <a:latin typeface="Arial"/>
              </a:rPr>
              <a:t>HNSW-indexed vector search filtered strictly by course and lecture metadata.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LangGraph StateGraph: </a:t>
            </a:r>
            <a:r>
              <a:rPr b="0" sz="1200">
                <a:solidFill>
                  <a:srgbClr val="CBD5E1"/>
                </a:solidFill>
                <a:latin typeface="Arial"/>
              </a:rPr>
              <a:t>Modular multi-node agent orchestrating guardrails, rephrasing, and synthesis.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DATA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Automated Video-to-Vector Knowledge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video lectures transform into queryable semantic vector embeddings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Ingestion Workflow (Steps 1 - 4)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1. Direct Signed Upload: </a:t>
            </a:r>
            <a:r>
              <a:rPr b="0" sz="1200">
                <a:solidFill>
                  <a:srgbClr val="CBD5E1"/>
                </a:solidFill>
                <a:latin typeface="Arial"/>
              </a:rPr>
              <a:t>Professor uploads video directly from browser to Cloudinary CDN via pre-signed HMAC tokens, bypassing backend network bottlenecks.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2. Asynchronous Webhook: </a:t>
            </a:r>
            <a:r>
              <a:rPr b="0" sz="1200">
                <a:solidFill>
                  <a:srgbClr val="CBD5E1"/>
                </a:solidFill>
                <a:latin typeface="Arial"/>
              </a:rPr>
              <a:t>Node.js dispatches ingest request to FastAPI; AI service returns HTTP 202 Accepted immediately so professors are never blocked.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3. Dynamic Audio Extraction: </a:t>
            </a:r>
            <a:r>
              <a:rPr b="0" sz="1200">
                <a:solidFill>
                  <a:srgbClr val="CBD5E1"/>
                </a:solidFill>
                <a:latin typeface="Arial"/>
              </a:rPr>
              <a:t>Cloudinary dynamic URL transformation (f_mp3) extracts lightweight audio track without downloading massive video files.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4. Groq Whisper Large v3 STT: </a:t>
            </a:r>
            <a:r>
              <a:rPr b="0" sz="1200">
                <a:solidFill>
                  <a:srgbClr val="CBD5E1"/>
                </a:solidFill>
                <a:latin typeface="Arial"/>
              </a:rPr>
              <a:t>Lightweight audio streamed into Whisper Large v3, returning high-accuracy transcript with start and end second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937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365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Indexing &amp; Storage (Steps 5 - 7)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5. Overlapping Semantic Chunking: </a:t>
            </a:r>
            <a:r>
              <a:rPr b="0" sz="1200">
                <a:solidFill>
                  <a:srgbClr val="CBD5E1"/>
                </a:solidFill>
                <a:latin typeface="Arial"/>
              </a:rPr>
              <a:t>Transcripts broken into coherent overlapping segments (60-120s windows) retaining sentence integrity and exact time ranges.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6. Dense Vector Embedding: </a:t>
            </a:r>
            <a:r>
              <a:rPr b="0" sz="1200">
                <a:solidFill>
                  <a:srgbClr val="CBD5E1"/>
                </a:solidFill>
                <a:latin typeface="Arial"/>
              </a:rPr>
              <a:t>NVIDIA Nemotron-3-Embed-1B transforms text chunks into 2048-dimensional dense vectors capturing deep academic semantics.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7. Qdrant Vector DB Storage: </a:t>
            </a:r>
            <a:r>
              <a:rPr b="0" sz="1200">
                <a:solidFill>
                  <a:srgbClr val="CBD5E1"/>
                </a:solidFill>
                <a:latin typeface="Arial"/>
              </a:rPr>
              <a:t>Vectors indexed with rich payload: course_id, lecture_id, title, start_time, end_time, and transcript text for instant course-filtered recall.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8. Dual-Database Redundancy: </a:t>
            </a:r>
            <a:r>
              <a:rPr b="0" sz="1200">
                <a:solidFill>
                  <a:srgbClr val="CBD5E1"/>
                </a:solidFill>
                <a:latin typeface="Arial"/>
              </a:rPr>
              <a:t>Full transcript blocks and metadata saved into MongoDB for fallback retrieval and playlist rendering.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AI 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LangGraph Multi-Node Grounded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cyclical state graph engineered for zero hallucination, academic safety, and conversational recall.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Query Understanding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 1: Guardrail Node: </a:t>
            </a:r>
            <a:r>
              <a:rPr b="0" sz="1200">
                <a:solidFill>
                  <a:srgbClr val="CBD5E1"/>
                </a:solidFill>
                <a:latin typeface="Arial"/>
              </a:rPr>
              <a:t>Zero-shot academic safety classifier. Discards malicious or non-academic queries instantly without consuming vector DB resources.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 2: Rephraser Node: </a:t>
            </a:r>
            <a:r>
              <a:rPr b="0" sz="1200">
                <a:solidFill>
                  <a:srgbClr val="CBD5E1"/>
                </a:solidFill>
                <a:latin typeface="Arial"/>
              </a:rPr>
              <a:t>Short-term conversational memory. Ingests past dialogue turns to resolve ambiguous pronouns (e.g., 'What about in case 2?') into self-contained search queries.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 3: Subquery Splitter: </a:t>
            </a:r>
            <a:r>
              <a:rPr b="0" sz="1200">
                <a:solidFill>
                  <a:srgbClr val="CBD5E1"/>
                </a:solidFill>
                <a:latin typeface="Arial"/>
              </a:rPr>
              <a:t>Decomposes compound multi-part questions (e.g., 'What is time complexity and how does for-loop affect it?') into atomic vector search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375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880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Retrieval &amp; Filtering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 4: Retrieval Node: </a:t>
            </a:r>
            <a:r>
              <a:rPr b="0" sz="1200">
                <a:solidFill>
                  <a:srgbClr val="CBD5E1"/>
                </a:solidFill>
                <a:latin typeface="Arial"/>
              </a:rPr>
              <a:t>Executes parallel cosine distance search against Qdrant collection, strictly filtered by the student's enrolled course_id.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 5: Threshold Reranker: </a:t>
            </a:r>
            <a:r>
              <a:rPr b="0" sz="1200">
                <a:solidFill>
                  <a:srgbClr val="CBD5E1"/>
                </a:solidFill>
                <a:latin typeface="Arial"/>
              </a:rPr>
              <a:t>Enforces strict cosine similarity threshold (score &gt;= 0.20) to filter out irrelevant lecture noise and prevent hallucinations.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Citation Extraction: </a:t>
            </a:r>
            <a:r>
              <a:rPr b="0" sz="1200">
                <a:solidFill>
                  <a:srgbClr val="CBD5E1"/>
                </a:solidFill>
                <a:latin typeface="Arial"/>
              </a:rPr>
              <a:t>Extracts top 4 most relevant excerpts and structures clickable citation metadata with lecture title and start/end time markers.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41071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5351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Grounded Generation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 6: Grounded Generator: </a:t>
            </a:r>
            <a:r>
              <a:rPr b="0" sz="1200">
                <a:solidFill>
                  <a:srgbClr val="CBD5E1"/>
                </a:solidFill>
                <a:latin typeface="Arial"/>
              </a:rPr>
              <a:t>Feeds strictly filtered excerpts into the LLM with strict grounding constraints forbidding outside speculation.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Token-by-Token Streaming: </a:t>
            </a:r>
            <a:r>
              <a:rPr b="0" sz="1200">
                <a:solidFill>
                  <a:srgbClr val="CBD5E1"/>
                </a:solidFill>
                <a:latin typeface="Arial"/>
              </a:rPr>
              <a:t>Yields tokens incrementally via Server-Sent Events (SSE) so students see text appear instantaneously.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Structured Event Payload: </a:t>
            </a:r>
            <a:r>
              <a:rPr b="0" sz="1200">
                <a:solidFill>
                  <a:srgbClr val="CBD5E1"/>
                </a:solidFill>
                <a:latin typeface="Arial"/>
              </a:rPr>
              <a:t>Concludes stream with full citation object enabling frontend video preview badges.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LLM STRATEGY &amp;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Dual LLM Strategy &amp; The 'Teacher Voice'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Moving from robotic mathematical formulas to an articulate, intuitive Google Gemini teaching persona.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The Challenge: Robotic Open LLMs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Mathematical Benchmark Bias: </a:t>
            </a:r>
            <a:r>
              <a:rPr b="0" sz="1200">
                <a:solidFill>
                  <a:srgbClr val="CBD5E1"/>
                </a:solidFill>
                <a:latin typeface="Arial"/>
              </a:rPr>
              <a:t>Open-weights reasoning models (e.g. gpt-oss-120b) have strong reflexes toward formal math proofs and competitive programming syntax.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Unwanted LaTeX &amp; Raw Tables: </a:t>
            </a:r>
            <a:r>
              <a:rPr b="0" sz="1200">
                <a:solidFill>
                  <a:srgbClr val="CBD5E1"/>
                </a:solidFill>
                <a:latin typeface="Arial"/>
              </a:rPr>
              <a:t>Default outputs generated raw LaTeX blocks (\[ \dots \]), unrendered HTML (&lt;br&gt;), and dense multi-column comparison tables.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Intimidating Formatting: </a:t>
            </a:r>
            <a:r>
              <a:rPr b="0" sz="1200">
                <a:solidFill>
                  <a:srgbClr val="CBD5E1"/>
                </a:solidFill>
                <a:latin typeface="Arial"/>
              </a:rPr>
              <a:t>Robotic emoji bullet numbers (1️⃣, 2️⃣, 🧩, 🎓, 🚀) made answers feel like impersonal cheat sheets rather than a caring professor in office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937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365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The Solution: Gemini Integration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Native Google Gemini Integration: </a:t>
            </a:r>
            <a:r>
              <a:rPr b="0" sz="1200">
                <a:solidFill>
                  <a:srgbClr val="CBD5E1"/>
                </a:solidFill>
                <a:latin typeface="Arial"/>
              </a:rPr>
              <a:t>Integrated gemini-3.8-flash via official google-genai SDK, natively trained for warm, articulate pedagogical dialogue.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Strict Negative Prompt Constraints: </a:t>
            </a:r>
            <a:r>
              <a:rPr b="0" sz="1200">
                <a:solidFill>
                  <a:srgbClr val="CBD5E1"/>
                </a:solidFill>
                <a:latin typeface="Arial"/>
              </a:rPr>
              <a:t>Explicitly prohibited LaTeX math blocks, raw HTML tables, and emoji numbers in favor of clean, readable paragraphs.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Intuitive Mental Models: </a:t>
            </a:r>
            <a:r>
              <a:rPr b="0" sz="1200">
                <a:solidFill>
                  <a:srgbClr val="CBD5E1"/>
                </a:solidFill>
                <a:latin typeface="Arial"/>
              </a:rPr>
              <a:t>Prompt engineered to explain the 'why' using relatable analogies (e.g., 'walking across a room' for O(n), 'folding a sheet of paper' for O(log n)).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High-Speed Groq Fallback: </a:t>
            </a:r>
            <a:r>
              <a:rPr b="0" sz="1200">
                <a:solidFill>
                  <a:srgbClr val="CBD5E1"/>
                </a:solidFill>
                <a:latin typeface="Arial"/>
              </a:rPr>
              <a:t>Groq Qwen 3.8 / 27b configured as automatic zero-GPU fallback ensuring 99.9% uptime and zero downtime.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FRONTEND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Gemini-Inspired Chat Interface &amp; Video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Crafted for effortless student navigation, real-time feedback, and verifiable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Conversational Experience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Multi-Session Conversations: </a:t>
            </a:r>
            <a:r>
              <a:rPr b="0" sz="1200">
                <a:solidFill>
                  <a:srgbClr val="CBD5E1"/>
                </a:solidFill>
                <a:latin typeface="Arial"/>
              </a:rPr>
              <a:t>Collapsible left sidebar organizing past chat sessions chronologically by last activity with real-time session creation.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Server-Sent Events (SSE) Streaming: </a:t>
            </a:r>
            <a:r>
              <a:rPr b="0" sz="1200">
                <a:solidFill>
                  <a:srgbClr val="CBD5E1"/>
                </a:solidFill>
                <a:latin typeface="Arial"/>
              </a:rPr>
              <a:t>Instantaneous token-by-token response rendering without buffering latency or loading spinners.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Responsive Dark Mode: </a:t>
            </a:r>
            <a:r>
              <a:rPr b="0" sz="1200">
                <a:solidFill>
                  <a:srgbClr val="CBD5E1"/>
                </a:solidFill>
                <a:latin typeface="Arial"/>
              </a:rPr>
              <a:t>High-contrast Slate and Indigo styling designed for long study sessions without eye strain.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Clean Markdown Rendering: </a:t>
            </a:r>
            <a:r>
              <a:rPr b="0" sz="1200">
                <a:solidFill>
                  <a:srgbClr val="CBD5E1"/>
                </a:solidFill>
                <a:latin typeface="Arial"/>
              </a:rPr>
              <a:t>Syntax-highlighted code snippets, clean bullet points, and elegant typography.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937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365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Video Timestamp Seeking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Clickable Citation Badges: </a:t>
            </a:r>
            <a:r>
              <a:rPr b="0" sz="1200">
                <a:solidFill>
                  <a:srgbClr val="CBD5E1"/>
                </a:solidFill>
                <a:latin typeface="Arial"/>
              </a:rPr>
              <a:t>Every AI statement ends with interactive timestamp chips indicating the exact lecture and time window (e.g. [01:15 - 02:45]).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One-Click Modal Video Preview: </a:t>
            </a:r>
            <a:r>
              <a:rPr b="0" sz="1200">
                <a:solidFill>
                  <a:srgbClr val="CBD5E1"/>
                </a:solidFill>
                <a:latin typeface="Arial"/>
              </a:rPr>
              <a:t>Clicking any badge opens an in-place video modal that automatically seeks to the exact second where the concept was taught.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Verification &amp; Trust: </a:t>
            </a:r>
            <a:r>
              <a:rPr b="0" sz="1200">
                <a:solidFill>
                  <a:srgbClr val="CBD5E1"/>
                </a:solidFill>
                <a:latin typeface="Arial"/>
              </a:rPr>
              <a:t>Students can instantly verify that the AI is not hallucinating by watching the professor speak the exact words.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Active Recall Loop: </a:t>
            </a:r>
            <a:r>
              <a:rPr b="0" sz="1200">
                <a:solidFill>
                  <a:srgbClr val="CBD5E1"/>
                </a:solidFill>
                <a:latin typeface="Arial"/>
              </a:rPr>
              <a:t>Combines conversational Q&amp;A with direct lecture reinforcement for optimal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Libraries, Frameworks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Modern, scalable production stack spanning frontend, backend, AI orchestration, and vector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Frontend Stack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React 18: </a:t>
            </a:r>
            <a:r>
              <a:rPr b="0" sz="1200">
                <a:solidFill>
                  <a:srgbClr val="CBD5E1"/>
                </a:solidFill>
                <a:latin typeface="Arial"/>
              </a:rPr>
              <a:t>Component-driven SPA architecture.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Vite: </a:t>
            </a:r>
            <a:r>
              <a:rPr b="0" sz="1200">
                <a:solidFill>
                  <a:srgbClr val="CBD5E1"/>
                </a:solidFill>
                <a:latin typeface="Arial"/>
              </a:rPr>
              <a:t>Next-gen HMR build tool.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Tailwind CSS: </a:t>
            </a:r>
            <a:r>
              <a:rPr b="0" sz="1200">
                <a:solidFill>
                  <a:srgbClr val="CBD5E1"/>
                </a:solidFill>
                <a:latin typeface="Arial"/>
              </a:rPr>
              <a:t>Utility-first design system.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Lucide React: </a:t>
            </a:r>
            <a:r>
              <a:rPr b="0" sz="1200">
                <a:solidFill>
                  <a:srgbClr val="CBD5E1"/>
                </a:solidFill>
                <a:latin typeface="Arial"/>
              </a:rPr>
              <a:t>Iconography.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Axios &amp; Fetch: </a:t>
            </a:r>
            <a:r>
              <a:rPr b="0" sz="1200">
                <a:solidFill>
                  <a:srgbClr val="CBD5E1"/>
                </a:solidFill>
                <a:latin typeface="Arial"/>
              </a:rPr>
              <a:t>REST &amp; SSE streaming.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React Router v6: </a:t>
            </a:r>
            <a:r>
              <a:rPr b="0" sz="1200">
                <a:solidFill>
                  <a:srgbClr val="CBD5E1"/>
                </a:solidFill>
                <a:latin typeface="Arial"/>
              </a:rPr>
              <a:t>Role-based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Backend Gateway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Node.js (ESM): </a:t>
            </a:r>
            <a:r>
              <a:rPr b="0" sz="1200">
                <a:solidFill>
                  <a:srgbClr val="CBD5E1"/>
                </a:solidFill>
                <a:latin typeface="Arial"/>
              </a:rPr>
              <a:t>Asynchronous runtime.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Express.js: </a:t>
            </a:r>
            <a:r>
              <a:rPr b="0" sz="1200">
                <a:solidFill>
                  <a:srgbClr val="CBD5E1"/>
                </a:solidFill>
                <a:latin typeface="Arial"/>
              </a:rPr>
              <a:t>REST API framework.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Mongoose: </a:t>
            </a:r>
            <a:r>
              <a:rPr b="0" sz="1200">
                <a:solidFill>
                  <a:srgbClr val="CBD5E1"/>
                </a:solidFill>
                <a:latin typeface="Arial"/>
              </a:rPr>
              <a:t>MongoDB ODM modeling.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Cloudinary SDK: </a:t>
            </a:r>
            <a:r>
              <a:rPr b="0" sz="1200">
                <a:solidFill>
                  <a:srgbClr val="CBD5E1"/>
                </a:solidFill>
                <a:latin typeface="Arial"/>
              </a:rPr>
              <a:t>Video asset hosting &amp; HMAC signing.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JWT &amp; Bcrypt: </a:t>
            </a:r>
            <a:r>
              <a:rPr b="0" sz="1200">
                <a:solidFill>
                  <a:srgbClr val="CBD5E1"/>
                </a:solidFill>
                <a:latin typeface="Arial"/>
              </a:rPr>
              <a:t>Auth &amp; password hashing.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CORS &amp; Dotenv: </a:t>
            </a:r>
            <a:r>
              <a:rPr b="0" sz="1200">
                <a:solidFill>
                  <a:srgbClr val="CBD5E1"/>
                </a:solidFill>
                <a:latin typeface="Arial"/>
              </a:rPr>
              <a:t>Middleware &amp;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Arial"/>
              </a:defRPr>
            </a:pPr>
            <a:r>
              <a:t>AI Microservice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Python 3.9+: </a:t>
            </a:r>
            <a:r>
              <a:rPr b="0" sz="1200">
                <a:solidFill>
                  <a:srgbClr val="CBD5E1"/>
                </a:solidFill>
                <a:latin typeface="Arial"/>
              </a:rPr>
              <a:t>AI runtime.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FastAPI &amp; Uvicorn: </a:t>
            </a:r>
            <a:r>
              <a:rPr b="0" sz="1200">
                <a:solidFill>
                  <a:srgbClr val="CBD5E1"/>
                </a:solidFill>
                <a:latin typeface="Arial"/>
              </a:rPr>
              <a:t>Async ASGI web server.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LangGraph: </a:t>
            </a:r>
            <a:r>
              <a:rPr b="0" sz="1200">
                <a:solidFill>
                  <a:srgbClr val="CBD5E1"/>
                </a:solidFill>
                <a:latin typeface="Arial"/>
              </a:rPr>
              <a:t>Multi-node cyclical state graphs.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Pydantic v2: </a:t>
            </a:r>
            <a:r>
              <a:rPr b="0" sz="1200">
                <a:solidFill>
                  <a:srgbClr val="CBD5E1"/>
                </a:solidFill>
                <a:latin typeface="Arial"/>
              </a:rPr>
              <a:t>Strict schema validation.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HTTPX: </a:t>
            </a:r>
            <a:r>
              <a:rPr b="0" sz="1200">
                <a:solidFill>
                  <a:srgbClr val="CBD5E1"/>
                </a:solidFill>
                <a:latin typeface="Arial"/>
              </a:rPr>
              <a:t>Asynchronous HTTP client.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Tenacity: </a:t>
            </a:r>
            <a:r>
              <a:rPr b="0" sz="1200">
                <a:solidFill>
                  <a:srgbClr val="CBD5E1"/>
                </a:solidFill>
                <a:latin typeface="Arial"/>
              </a:rPr>
              <a:t>Automatic retry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737360"/>
            <a:ext cx="263347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920240"/>
            <a:ext cx="217627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Models &amp; DBs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Google GenAI: </a:t>
            </a:r>
            <a:r>
              <a:rPr b="0" sz="1200">
                <a:solidFill>
                  <a:srgbClr val="CBD5E1"/>
                </a:solidFill>
                <a:latin typeface="Arial"/>
              </a:rPr>
              <a:t>Gemini 3.8 Flash (LLM).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Groq SDK: </a:t>
            </a:r>
            <a:r>
              <a:rPr b="0" sz="1200">
                <a:solidFill>
                  <a:srgbClr val="CBD5E1"/>
                </a:solidFill>
                <a:latin typeface="Arial"/>
              </a:rPr>
              <a:t>Whisper Large v3 (STT) &amp; Qwen.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NVIDIA NIM: </a:t>
            </a:r>
            <a:r>
              <a:rPr b="0" sz="1200">
                <a:solidFill>
                  <a:srgbClr val="CBD5E1"/>
                </a:solidFill>
                <a:latin typeface="Arial"/>
              </a:rPr>
              <a:t>Nemotron-3-Embed-1B (2048-dim).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Qdrant Client: </a:t>
            </a:r>
            <a:r>
              <a:rPr b="0" sz="1200">
                <a:solidFill>
                  <a:srgbClr val="CBD5E1"/>
                </a:solidFill>
                <a:latin typeface="Arial"/>
              </a:rPr>
              <a:t>HNSW vector database.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MongoDB: </a:t>
            </a:r>
            <a:r>
              <a:rPr b="0" sz="1200">
                <a:solidFill>
                  <a:srgbClr val="CBD5E1"/>
                </a:solidFill>
                <a:latin typeface="Arial"/>
              </a:rPr>
              <a:t>Relational persistence.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Cloudinary: </a:t>
            </a:r>
            <a:r>
              <a:rPr b="0" sz="1200">
                <a:solidFill>
                  <a:srgbClr val="CBD5E1"/>
                </a:solidFill>
                <a:latin typeface="Arial"/>
              </a:rPr>
              <a:t>Global CDN video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ENGINEERING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Technical Challenges &amp;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Real-world production hurdles encountered and resolved during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Architectural &amp; Cloud Challenges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Cloudinary Upload Signature Mismatch: </a:t>
            </a:r>
            <a:r>
              <a:rPr b="0" sz="1200">
                <a:solidFill>
                  <a:srgbClr val="CBD5E1"/>
                </a:solidFill>
                <a:latin typeface="Arial"/>
              </a:rPr>
              <a:t>Challenge: Direct client uploads failed with invalid signature errors.
Solution: Replaced broad signed parameter sets with strictly sorted, alphabetized params (folder + timestamp) and isolated resource_type handling.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Qdrant Pydantic Metadata Deserialization: </a:t>
            </a:r>
            <a:r>
              <a:rPr b="0" sz="1200">
                <a:solidFill>
                  <a:srgbClr val="CBD5E1"/>
                </a:solidFill>
                <a:latin typeface="Arial"/>
              </a:rPr>
              <a:t>Challenge: Embedded Qdrant crashed on startup due to Pydantic v2 ValidationError with null memory and payload fields.
Solution: Programmatically sanitized meta.json storage configurations, ensuring flawless vector collection initialization.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937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365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UI &amp; LLM Reliability Challenges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White-on-White Input Contrast Issue: </a:t>
            </a:r>
            <a:r>
              <a:rPr b="0" sz="1200">
                <a:solidFill>
                  <a:srgbClr val="CBD5E1"/>
                </a:solidFill>
                <a:latin typeface="Arial"/>
              </a:rPr>
              <a:t>Challenge: Text typed inside modal inputs was invisible due to ambient browser defaults.
Solution: Enforced explicit high-contrast Tailwind tokens (text-slate-900 bg-white placeholder:text-slate-400) across all input components.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Eliminating Hallucinations &amp; Math Clutter: </a:t>
            </a:r>
            <a:r>
              <a:rPr b="0" sz="1200">
                <a:solidFill>
                  <a:srgbClr val="CBD5E1"/>
                </a:solidFill>
                <a:latin typeface="Arial"/>
              </a:rPr>
              <a:t>Challenge: Assistant defaulted to dense LaTeX math formulas and occasionally guessed answers outside the course.
Solution: Multi-node LangGraph pipeline with cosine similarity thresholding (&gt;= 0.20) + official Gemini 3.8 integration with strict conversational office-hours prompting.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CONCLUSION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Platform Impact &amp; Future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educational institutions with scalable, reliable, course-grounded AI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Immediate Educational Impact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100% Course-Grounded Accuracy: </a:t>
            </a:r>
            <a:r>
              <a:rPr b="0" sz="1200">
                <a:solidFill>
                  <a:srgbClr val="CBD5E1"/>
                </a:solidFill>
                <a:latin typeface="Arial"/>
              </a:rPr>
              <a:t>Eliminates student confusion caused by conflicting internet conventions; answers reflect exactly what the course instructor taught.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24/7 Virtual Teaching Assistant: </a:t>
            </a:r>
            <a:r>
              <a:rPr b="0" sz="1200">
                <a:solidFill>
                  <a:srgbClr val="CBD5E1"/>
                </a:solidFill>
                <a:latin typeface="Arial"/>
              </a:rPr>
              <a:t>Scales individualized student support infinitely without increasing faculty grading and office-hours burden.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Accelerated Learning Velocity: </a:t>
            </a:r>
            <a:r>
              <a:rPr b="0" sz="1200">
                <a:solidFill>
                  <a:srgbClr val="CBD5E1"/>
                </a:solidFill>
                <a:latin typeface="Arial"/>
              </a:rPr>
              <a:t>Reduces video review time by 80% through instant semantic search and jump-to-timestamp navigation.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Zero Operational Infrastructure Cost: </a:t>
            </a:r>
            <a:r>
              <a:rPr b="0" sz="1200">
                <a:solidFill>
                  <a:srgbClr val="CBD5E1"/>
                </a:solidFill>
                <a:latin typeface="Arial"/>
              </a:rPr>
              <a:t>Serverless Groq STT and Gemini Flash API provide ultra-low latency inference with zero dedicated GPU maintenance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937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365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Future Strategic Roadmap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Multimodal Blackboard / Slide OCR: </a:t>
            </a:r>
            <a:r>
              <a:rPr b="0" sz="1200">
                <a:solidFill>
                  <a:srgbClr val="CBD5E1"/>
                </a:solidFill>
                <a:latin typeface="Arial"/>
              </a:rPr>
              <a:t>Extract and index visual text from professor slides, diagrams, and physical blackboard writing alongside audio.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Automated Quiz &amp; Flashcard Engine: </a:t>
            </a:r>
            <a:r>
              <a:rPr b="0" sz="1200">
                <a:solidFill>
                  <a:srgbClr val="CBD5E1"/>
                </a:solidFill>
                <a:latin typeface="Arial"/>
              </a:rPr>
              <a:t>Generate self-assessment quizzes and spaced-repetition flashcards aligned with lecture timestamps automatically.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Instructor Analytics Dashboard: </a:t>
            </a:r>
            <a:r>
              <a:rPr b="0" sz="1200">
                <a:solidFill>
                  <a:srgbClr val="CBD5E1"/>
                </a:solidFill>
                <a:latin typeface="Arial"/>
              </a:rPr>
              <a:t>Aggregate anonymized doubt trends to inform professors which specific concepts students find most challenging.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  <a:latin typeface="Arial"/>
              </a:rPr>
              <a:t>• Voice-Enabled Interactive Tutor: </a:t>
            </a:r>
            <a:r>
              <a:rPr b="0" sz="1200">
                <a:solidFill>
                  <a:srgbClr val="CBD5E1"/>
                </a:solidFill>
                <a:latin typeface="Arial"/>
              </a:rPr>
              <a:t>Real-time bidirectional voice conversation with Buddy AI for hands-free interactive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